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93455" r:id="rId4"/>
    <p:sldMasterId id="2147493515" r:id="rId5"/>
  </p:sldMasterIdLst>
  <p:notesMasterIdLst>
    <p:notesMasterId r:id="rId28"/>
  </p:notesMasterIdLst>
  <p:sldIdLst>
    <p:sldId id="264" r:id="rId6"/>
    <p:sldId id="258" r:id="rId7"/>
    <p:sldId id="265" r:id="rId8"/>
    <p:sldId id="266" r:id="rId9"/>
    <p:sldId id="270" r:id="rId10"/>
    <p:sldId id="267" r:id="rId11"/>
    <p:sldId id="298" r:id="rId12"/>
    <p:sldId id="299" r:id="rId13"/>
    <p:sldId id="300" r:id="rId14"/>
    <p:sldId id="301" r:id="rId15"/>
    <p:sldId id="302" r:id="rId16"/>
    <p:sldId id="303" r:id="rId17"/>
    <p:sldId id="308" r:id="rId18"/>
    <p:sldId id="307" r:id="rId19"/>
    <p:sldId id="306" r:id="rId20"/>
    <p:sldId id="310" r:id="rId21"/>
    <p:sldId id="305" r:id="rId22"/>
    <p:sldId id="309" r:id="rId23"/>
    <p:sldId id="283" r:id="rId24"/>
    <p:sldId id="311" r:id="rId25"/>
    <p:sldId id="280" r:id="rId26"/>
    <p:sldId id="294" r:id="rId27"/>
  </p:sldIdLst>
  <p:sldSz cx="9144000" cy="5143500" type="screen16x9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31"/>
    <p:restoredTop sz="94608"/>
  </p:normalViewPr>
  <p:slideViewPr>
    <p:cSldViewPr snapToGrid="0" snapToObjects="1">
      <p:cViewPr varScale="1">
        <p:scale>
          <a:sx n="126" d="100"/>
          <a:sy n="126" d="100"/>
        </p:scale>
        <p:origin x="374" y="8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9" d="100"/>
        <a:sy n="14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viewProps" Target="viewProps.xml"/><Relationship Id="rId8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laji Janardhan" userId="eeb9d698-352b-4ea3-90bd-9a262e5e7965" providerId="ADAL" clId="{FAFF9550-5453-4A0C-86D3-E5BBC7E225D0}"/>
    <pc:docChg chg="modSld">
      <pc:chgData name="Balaji Janardhan" userId="eeb9d698-352b-4ea3-90bd-9a262e5e7965" providerId="ADAL" clId="{FAFF9550-5453-4A0C-86D3-E5BBC7E225D0}" dt="2025-01-02T01:18:20.690" v="0" actId="6549"/>
      <pc:docMkLst>
        <pc:docMk/>
      </pc:docMkLst>
      <pc:sldChg chg="modSp mod">
        <pc:chgData name="Balaji Janardhan" userId="eeb9d698-352b-4ea3-90bd-9a262e5e7965" providerId="ADAL" clId="{FAFF9550-5453-4A0C-86D3-E5BBC7E225D0}" dt="2025-01-02T01:18:20.690" v="0" actId="6549"/>
        <pc:sldMkLst>
          <pc:docMk/>
          <pc:sldMk cId="963772703" sldId="264"/>
        </pc:sldMkLst>
        <pc:spChg chg="mod">
          <ac:chgData name="Balaji Janardhan" userId="eeb9d698-352b-4ea3-90bd-9a262e5e7965" providerId="ADAL" clId="{FAFF9550-5453-4A0C-86D3-E5BBC7E225D0}" dt="2025-01-02T01:18:20.690" v="0" actId="6549"/>
          <ac:spMkLst>
            <pc:docMk/>
            <pc:sldMk cId="963772703" sldId="264"/>
            <ac:spMk id="3" creationId="{3F7D3F5C-EB8B-494B-9E55-9CD4AA74A20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5179DD-B3C5-4259-AC11-7231BF454074}" type="datetimeFigureOut">
              <a:rPr lang="en-IN" smtClean="0"/>
              <a:t>01-01-2025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3A0FF8-169D-4683-9785-EFDBAB70E1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8702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99993" y="1550591"/>
            <a:ext cx="7498079" cy="1102519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7192" y="2752280"/>
            <a:ext cx="658368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485715-B728-014D-870A-1F84FF3D5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11/29/2023</a:t>
            </a:r>
          </a:p>
        </p:txBody>
      </p:sp>
    </p:spTree>
    <p:extLst>
      <p:ext uri="{BB962C8B-B14F-4D97-AF65-F5344CB8AC3E}">
        <p14:creationId xmlns:p14="http://schemas.microsoft.com/office/powerpoint/2010/main" val="662355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5840" y="914401"/>
            <a:ext cx="7637929" cy="3620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A26B4C-4C48-944C-B298-ABCF9E837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11/29/2023</a:t>
            </a:r>
          </a:p>
        </p:txBody>
      </p:sp>
    </p:spTree>
    <p:extLst>
      <p:ext uri="{BB962C8B-B14F-4D97-AF65-F5344CB8AC3E}">
        <p14:creationId xmlns:p14="http://schemas.microsoft.com/office/powerpoint/2010/main" val="723428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5879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5879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5BB145-AFA3-5C4F-B88A-8FAECB1D1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11/29/2023</a:t>
            </a:r>
          </a:p>
        </p:txBody>
      </p:sp>
    </p:spTree>
    <p:extLst>
      <p:ext uri="{BB962C8B-B14F-4D97-AF65-F5344CB8AC3E}">
        <p14:creationId xmlns:p14="http://schemas.microsoft.com/office/powerpoint/2010/main" val="2646429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914400"/>
            <a:ext cx="3681608" cy="364883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05192" y="914400"/>
            <a:ext cx="3681608" cy="364883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79752B7-9A8D-6E47-9BC1-D6EA622F7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11/29/2023</a:t>
            </a:r>
          </a:p>
        </p:txBody>
      </p:sp>
    </p:spTree>
    <p:extLst>
      <p:ext uri="{BB962C8B-B14F-4D97-AF65-F5344CB8AC3E}">
        <p14:creationId xmlns:p14="http://schemas.microsoft.com/office/powerpoint/2010/main" val="1568519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1151335"/>
            <a:ext cx="3657600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40" y="1631156"/>
            <a:ext cx="3657600" cy="2963466"/>
          </a:xfrm>
        </p:spPr>
        <p:txBody>
          <a:bodyPr/>
          <a:lstStyle>
            <a:lvl1pPr>
              <a:defRPr sz="2400"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18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60516" y="1151335"/>
            <a:ext cx="3657600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60516" y="1631156"/>
            <a:ext cx="3657600" cy="2963466"/>
          </a:xfrm>
        </p:spPr>
        <p:txBody>
          <a:bodyPr/>
          <a:lstStyle>
            <a:lvl1pPr>
              <a:defRPr sz="2400"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18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0BA71A0-D91F-B24E-B680-5F0572C1C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11/29/2023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C0E79BA-0006-9D41-8784-7BB3BB76E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0C6F3CE-014B-904D-AFF7-784249FA7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9CDBC23-8B1B-A04E-B3C0-378D638B84E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2489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F12357AE-C63F-8A4F-A6F0-787E69E63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11/29/2023</a:t>
            </a:r>
          </a:p>
        </p:txBody>
      </p:sp>
    </p:spTree>
    <p:extLst>
      <p:ext uri="{BB962C8B-B14F-4D97-AF65-F5344CB8AC3E}">
        <p14:creationId xmlns:p14="http://schemas.microsoft.com/office/powerpoint/2010/main" val="1208844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EF7C194-DDD3-D641-868F-C83B92165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11/29/2023</a:t>
            </a:r>
          </a:p>
        </p:txBody>
      </p:sp>
    </p:spTree>
    <p:extLst>
      <p:ext uri="{BB962C8B-B14F-4D97-AF65-F5344CB8AC3E}">
        <p14:creationId xmlns:p14="http://schemas.microsoft.com/office/powerpoint/2010/main" val="137230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5840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3692" y="204788"/>
            <a:ext cx="4503107" cy="4389835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5840" y="1076326"/>
            <a:ext cx="3008313" cy="3518297"/>
          </a:xfrm>
        </p:spPr>
        <p:txBody>
          <a:bodyPr/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0AB58A-2B66-2545-930A-A272235D4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11/29/2023</a:t>
            </a:r>
          </a:p>
        </p:txBody>
      </p:sp>
    </p:spTree>
    <p:extLst>
      <p:ext uri="{BB962C8B-B14F-4D97-AF65-F5344CB8AC3E}">
        <p14:creationId xmlns:p14="http://schemas.microsoft.com/office/powerpoint/2010/main" val="288761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7443" y="3485208"/>
            <a:ext cx="6136687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67443" y="205423"/>
            <a:ext cx="6136687" cy="3279783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67443" y="3922787"/>
            <a:ext cx="6136687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9E1126B-F75F-2444-AED3-04FA000CA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11/29/2023</a:t>
            </a:r>
          </a:p>
        </p:txBody>
      </p:sp>
    </p:spTree>
    <p:extLst>
      <p:ext uri="{BB962C8B-B14F-4D97-AF65-F5344CB8AC3E}">
        <p14:creationId xmlns:p14="http://schemas.microsoft.com/office/powerpoint/2010/main" val="2432690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4944B-E6C0-4B49-9884-33BAE2256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11/29/2023</a:t>
            </a:r>
          </a:p>
        </p:txBody>
      </p:sp>
    </p:spTree>
    <p:extLst>
      <p:ext uri="{BB962C8B-B14F-4D97-AF65-F5344CB8AC3E}">
        <p14:creationId xmlns:p14="http://schemas.microsoft.com/office/powerpoint/2010/main" val="4198271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82880"/>
            <a:ext cx="2057400" cy="4388644"/>
          </a:xfrm>
        </p:spPr>
        <p:txBody>
          <a:bodyPr vert="eaVert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182880"/>
            <a:ext cx="547116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14E9FE-CE82-5945-8C12-145C87CD6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11/29/2023</a:t>
            </a:r>
          </a:p>
        </p:txBody>
      </p:sp>
    </p:spTree>
    <p:extLst>
      <p:ext uri="{BB962C8B-B14F-4D97-AF65-F5344CB8AC3E}">
        <p14:creationId xmlns:p14="http://schemas.microsoft.com/office/powerpoint/2010/main" val="34739867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CBC20-67F4-9243-B263-111679245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11/29/2023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F7EBE-3D90-A040-A930-BCC21C53B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F6DE8-E370-CE41-B1AF-6D852D04C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E7390B-674D-D84A-8D8C-4EDA7BBD065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1750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45720"/>
            <a:ext cx="8229600" cy="457200"/>
          </a:xfrm>
        </p:spPr>
        <p:txBody>
          <a:bodyPr/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" y="731520"/>
            <a:ext cx="8229600" cy="3394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5D826-DDB8-D24E-A84F-4467C2022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11/29/2023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344CCA-174A-3744-8C6E-A9DBF9F5B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2DC80-B586-3042-8549-42FC550DE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E21D09-E2E8-7442-AC2A-C17B561ACE3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63636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2FCCE-3C5A-614F-A602-EB991E250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11/29/2023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F31562-1A7A-3543-AB21-C73AB5D13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04326-FD0D-AC44-9A85-FC045F1DE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7DD229-A6E0-1C4B-BC37-3197B08B8F7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41792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2880" y="731520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731520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125851C-65AE-3945-B4A4-5C6CBFF41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11/29/2023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F5E22F4-F371-9C4B-B108-979D62B60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14DE5FD-9DDF-3349-B8BB-8B8EC66E7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46EA69-1F00-A645-9A0D-A4775062045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9637ADE-912B-734C-A8CD-86C46C1A2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45720"/>
            <a:ext cx="8229600" cy="457200"/>
          </a:xfrm>
        </p:spPr>
        <p:txBody>
          <a:bodyPr/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9389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879" y="731520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879" y="125537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58803" y="731520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8803" y="125537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6B1F3CC-1B08-334B-B713-35390EA88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11/29/2023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CD32E90-BE10-4444-B774-07B30C107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C877E1B-3927-6A41-A15B-CAEE6E7A0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0896CB-93B7-014E-847C-14175976430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3EA321B-18B6-7A43-A72C-5E49A9E54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45720"/>
            <a:ext cx="8229600" cy="457200"/>
          </a:xfrm>
        </p:spPr>
        <p:txBody>
          <a:bodyPr/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44491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EDD99CF7-CC34-6C47-8149-8ED08EB2C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11/29/2023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B964ABC-BF4C-A448-A4B8-315147185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CA85D2B-0440-8842-BD95-E6B02ADF7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E4DBB1-8D62-814E-8556-58D32545C96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EE95A1E-349E-9548-8E92-7E8A37A6A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45720"/>
            <a:ext cx="8229600" cy="457200"/>
          </a:xfrm>
        </p:spPr>
        <p:txBody>
          <a:bodyPr/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2018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8889C9F1-16AD-9C4F-8BF3-AB0A70D5A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11/29/2023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7663ACA-88E8-7546-B7FD-CDEA8A638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C1D6CB0-70C9-BB45-B929-333854925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959AE8-BD6F-0C46-A207-5E671306819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6624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31520"/>
            <a:ext cx="3008313" cy="52744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50415" y="731520"/>
            <a:ext cx="5111750" cy="378066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91537"/>
            <a:ext cx="3008313" cy="32206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229153-9613-AA47-A7D4-114473C51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11/29/2023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0D1BCB-CA1E-1544-BCA5-14287C746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DA78F6-3507-9540-B2EC-5F9506C60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730543-ED1C-8347-B378-D5C6CDC9BA71}" type="slidenum">
              <a:rPr lang="en-US" altLang="en-US"/>
              <a:pPr/>
              <a:t>‹#›</a:t>
            </a:fld>
            <a:endParaRPr lang="en-US" altLang="en-US">
              <a:solidFill>
                <a:srgbClr val="88A44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2676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38028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731520"/>
            <a:ext cx="5486400" cy="2856749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113186"/>
            <a:ext cx="5486400" cy="42505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7E325AE-F0E8-3341-970A-FB5B18F12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11/29/2023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820830B-8BD9-9B49-AC9D-1AA4478E8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4E43D2D-9BF6-2B41-ACCF-21DB937EF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A32602-62F0-F143-8054-55F6804BD16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54492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2880" y="874712"/>
            <a:ext cx="8229600" cy="33940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3DED75-D61C-084A-83A2-D163F5925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11/29/2023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7B7CDA-1DB4-8D42-8893-703BAB504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AED9B-CD5F-8C48-B667-3FEB330B8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0F2238-E2A9-3646-AE36-254516B2E63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647BA73-4DAF-5E4A-8534-9D9645673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45720"/>
            <a:ext cx="8229600" cy="457200"/>
          </a:xfrm>
        </p:spPr>
        <p:txBody>
          <a:bodyPr/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37342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37693"/>
            <a:ext cx="1913351" cy="38681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37693"/>
            <a:ext cx="5598323" cy="38681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3FF10-CAF0-1E47-A1F2-D858F49B6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11/29/2023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9AF80A-262F-864D-A0AC-3538E56A5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A23A50-6A54-2848-9209-ACEB22011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850282-A637-A841-BAC6-6E5B26841DE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3516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CC048A5C-A751-9249-977B-6556232E821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05840" y="182880"/>
            <a:ext cx="7637929" cy="54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US" altLang="en-US" dirty="0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444C7208-DFEB-1340-9033-E90F7097E4B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05840" y="914401"/>
            <a:ext cx="7637929" cy="3620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US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B1D980-0CFA-B54F-B2F7-82F6B47A48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4663440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r>
              <a:rPr lang="en-US" altLang="en-US"/>
              <a:t>11/29/2023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3504" r:id="rId1"/>
    <p:sldLayoutId id="2147493505" r:id="rId2"/>
    <p:sldLayoutId id="2147493506" r:id="rId3"/>
    <p:sldLayoutId id="2147493507" r:id="rId4"/>
    <p:sldLayoutId id="2147493508" r:id="rId5"/>
    <p:sldLayoutId id="2147493509" r:id="rId6"/>
    <p:sldLayoutId id="2147493510" r:id="rId7"/>
    <p:sldLayoutId id="2147493514" r:id="rId8"/>
    <p:sldLayoutId id="2147493511" r:id="rId9"/>
    <p:sldLayoutId id="2147493512" r:id="rId10"/>
    <p:sldLayoutId id="2147493513" r:id="rId11"/>
  </p:sldLayoutIdLst>
  <p:hf sldNum="0" hdr="0" ftr="0" dt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ＭＳ Ｐゴシック" charset="0"/>
          <a:cs typeface="Lucida Sans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Lucida Sans" panose="020B0602030504020204" pitchFamily="34" charset="77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Lucida Sans" panose="020B0602030504020204" pitchFamily="34" charset="77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Lucida Sans" panose="020B0602030504020204" pitchFamily="34" charset="77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Lucida Sans" panose="020B0602030504020204" pitchFamily="34" charset="77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j-lt"/>
          <a:ea typeface="ＭＳ Ｐゴシック" charset="0"/>
          <a:cs typeface="Lucida Sans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j-lt"/>
          <a:ea typeface="ＭＳ Ｐゴシック" charset="0"/>
          <a:cs typeface="Lucida San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ＭＳ Ｐゴシック" charset="0"/>
          <a:cs typeface="Lucida San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j-lt"/>
          <a:ea typeface="ＭＳ Ｐゴシック" charset="0"/>
          <a:cs typeface="Lucida San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j-lt"/>
          <a:ea typeface="ＭＳ Ｐゴシック" charset="0"/>
          <a:cs typeface="Lucida San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353581A9-911B-FD40-98B6-FA0387892E0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US" altLang="en-US" dirty="0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0F78568A-2587-8742-839A-071B4E58039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429EB8-F11E-DA46-B960-62BDA450A5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r>
              <a:rPr lang="en-US" altLang="en-US"/>
              <a:t>11/29/2023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28A48-F085-6B43-96BB-9267014825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08BBE-DF4D-8944-9C72-48CEA7691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A5D67083-FF9E-A349-B938-AD7B1239AEE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0743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3516" r:id="rId1"/>
    <p:sldLayoutId id="2147493517" r:id="rId2"/>
    <p:sldLayoutId id="2147493518" r:id="rId3"/>
    <p:sldLayoutId id="2147493519" r:id="rId4"/>
    <p:sldLayoutId id="2147493520" r:id="rId5"/>
    <p:sldLayoutId id="2147493521" r:id="rId6"/>
    <p:sldLayoutId id="2147493522" r:id="rId7"/>
    <p:sldLayoutId id="2147493523" r:id="rId8"/>
    <p:sldLayoutId id="2147493524" r:id="rId9"/>
    <p:sldLayoutId id="2147493525" r:id="rId10"/>
    <p:sldLayoutId id="2147493526" r:id="rId11"/>
  </p:sldLayoutIdLst>
  <p:hf sldNum="0" hdr="0" ft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0"/>
          <a:cs typeface="Lucida Sans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Lucida Sans" panose="020B0602030504020204" pitchFamily="34" charset="77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Lucida Sans" panose="020B0602030504020204" pitchFamily="34" charset="77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Lucida Sans" panose="020B0602030504020204" pitchFamily="34" charset="77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Lucida Sans" panose="020B0602030504020204" pitchFamily="34" charset="77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Lucida Sans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ＭＳ Ｐゴシック" charset="0"/>
          <a:cs typeface="Lucida San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Lucida San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Lucida San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ＭＳ Ｐゴシック" charset="0"/>
          <a:cs typeface="Lucida San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751E8-83E9-D046-A2AC-1A2F176F69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3935" y="709127"/>
            <a:ext cx="8733453" cy="1959428"/>
          </a:xfrm>
        </p:spPr>
        <p:txBody>
          <a:bodyPr/>
          <a:lstStyle/>
          <a:p>
            <a:r>
              <a:rPr lang="en-IN" sz="4000" u="sng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PROFITABILITY ANALYSIS OF ADIDAS IN THE US MARKET</a:t>
            </a:r>
            <a:endParaRPr lang="en-US" sz="4000" u="sng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7D3F5C-EB8B-494B-9E55-9CD4AA74A2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004457"/>
            <a:ext cx="6400800" cy="1474237"/>
          </a:xfrm>
        </p:spPr>
        <p:txBody>
          <a:bodyPr/>
          <a:lstStyle/>
          <a:p>
            <a:r>
              <a:rPr lang="en-IN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By,</a:t>
            </a:r>
          </a:p>
          <a:p>
            <a:r>
              <a:rPr lang="en-IN" sz="24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Mr </a:t>
            </a:r>
            <a:r>
              <a:rPr lang="en-IN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Balaji Janardhan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3772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886825" y="4843074"/>
            <a:ext cx="2095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1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576" y="0"/>
            <a:ext cx="8360582" cy="51200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99522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886825" y="4843074"/>
            <a:ext cx="2095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2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725" y="0"/>
            <a:ext cx="8296275" cy="51200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47347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550" y="0"/>
            <a:ext cx="6480700" cy="5143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4250" y="-1"/>
            <a:ext cx="1809750" cy="51435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0473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726" y="1"/>
            <a:ext cx="8296274" cy="514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18263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8D3C2-3611-EE48-8F8E-788E8A301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880"/>
            <a:ext cx="8305799" cy="741045"/>
          </a:xfrm>
          <a:ln w="9525">
            <a:noFill/>
          </a:ln>
        </p:spPr>
        <p:txBody>
          <a:bodyPr/>
          <a:lstStyle/>
          <a:p>
            <a:pPr algn="ctr"/>
            <a:r>
              <a:rPr lang="en-IN" sz="24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EXPLORATORY DATA ANALYSIS - DISCOVERING INSIGHTS</a:t>
            </a:r>
            <a:endParaRPr lang="en-US" sz="24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1" y="923924"/>
            <a:ext cx="8020050" cy="41360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33501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8D3C2-3611-EE48-8F8E-788E8A301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55"/>
            <a:ext cx="8305799" cy="741045"/>
          </a:xfrm>
          <a:ln w="9525">
            <a:noFill/>
          </a:ln>
        </p:spPr>
        <p:txBody>
          <a:bodyPr/>
          <a:lstStyle/>
          <a:p>
            <a:pPr algn="ctr"/>
            <a:r>
              <a:rPr lang="en-IN" sz="24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EXPLORATORY DATA ANALYSIS - DISCOVERING INSIGHTS</a:t>
            </a:r>
            <a:endParaRPr lang="en-US" sz="24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25" y="761998"/>
            <a:ext cx="7978939" cy="4381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20652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8D3C2-3611-EE48-8F8E-788E8A301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55"/>
            <a:ext cx="8305799" cy="741045"/>
          </a:xfrm>
          <a:ln w="9525">
            <a:noFill/>
          </a:ln>
        </p:spPr>
        <p:txBody>
          <a:bodyPr/>
          <a:lstStyle/>
          <a:p>
            <a:pPr algn="ctr"/>
            <a:r>
              <a:rPr lang="en-IN" sz="24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EXPLORATORY DATA ANALYSIS - DISCOVERING INSIGHTS</a:t>
            </a:r>
            <a:endParaRPr lang="en-US" sz="24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451" y="847725"/>
            <a:ext cx="8077200" cy="4295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83798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8D3C2-3611-EE48-8F8E-788E8A301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55"/>
            <a:ext cx="8305799" cy="741045"/>
          </a:xfrm>
          <a:ln w="9525">
            <a:noFill/>
          </a:ln>
        </p:spPr>
        <p:txBody>
          <a:bodyPr/>
          <a:lstStyle/>
          <a:p>
            <a:pPr algn="ctr"/>
            <a:r>
              <a:rPr lang="en-IN" sz="24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EXPLORATORY DATA ANALYSIS - DISCOVERING INSIGHTS</a:t>
            </a:r>
            <a:endParaRPr lang="en-US" sz="24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762000"/>
            <a:ext cx="8191500" cy="4367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551017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8D3C2-3611-EE48-8F8E-788E8A301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55"/>
            <a:ext cx="8305799" cy="741045"/>
          </a:xfrm>
          <a:ln w="9525">
            <a:noFill/>
          </a:ln>
        </p:spPr>
        <p:txBody>
          <a:bodyPr/>
          <a:lstStyle/>
          <a:p>
            <a:pPr algn="ctr"/>
            <a:r>
              <a:rPr lang="en-IN" sz="24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EXPLORATORY DATA ANALYSIS - DISCOVERING INSIGHTS</a:t>
            </a:r>
            <a:endParaRPr lang="en-US" sz="24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399" y="1000125"/>
            <a:ext cx="8153400" cy="405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73001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8D3C2-3611-EE48-8F8E-788E8A301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55"/>
            <a:ext cx="8305799" cy="741045"/>
          </a:xfrm>
          <a:ln w="9525">
            <a:noFill/>
          </a:ln>
        </p:spPr>
        <p:txBody>
          <a:bodyPr/>
          <a:lstStyle/>
          <a:p>
            <a:pPr algn="ctr"/>
            <a:r>
              <a:rPr lang="en-IN" sz="24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EXPLORATORY DATA ANALYSIS - DISCOVERING INSIGHTS</a:t>
            </a:r>
            <a:endParaRPr lang="en-US" sz="24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926" y="628650"/>
            <a:ext cx="8134350" cy="45148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948050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8D3C2-3611-EE48-8F8E-788E8A301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55"/>
            <a:ext cx="8305799" cy="741045"/>
          </a:xfrm>
          <a:ln w="9525">
            <a:noFill/>
          </a:ln>
        </p:spPr>
        <p:txBody>
          <a:bodyPr/>
          <a:lstStyle/>
          <a:p>
            <a:pPr algn="ctr"/>
            <a:r>
              <a:rPr lang="en-IN" sz="24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EXPLORATORY DATA ANALYSIS - DISCOVERING INSIGHTS</a:t>
            </a:r>
            <a:endParaRPr lang="en-US" sz="24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25" y="761999"/>
            <a:ext cx="7962900" cy="431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600395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8D3C2-3611-EE48-8F8E-788E8A301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55"/>
            <a:ext cx="8305799" cy="741045"/>
          </a:xfrm>
          <a:ln w="9525">
            <a:noFill/>
          </a:ln>
        </p:spPr>
        <p:txBody>
          <a:bodyPr/>
          <a:lstStyle/>
          <a:p>
            <a:pPr algn="ctr"/>
            <a:r>
              <a:rPr lang="en-IN" sz="24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EXPLORATORY DATA ANALYSIS - DISCOVERING INSIGHTS</a:t>
            </a:r>
            <a:endParaRPr lang="en-US" sz="24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225" y="838199"/>
            <a:ext cx="7924800" cy="4214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597373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8D3C2-3611-EE48-8F8E-788E8A301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55"/>
            <a:ext cx="8305799" cy="741045"/>
          </a:xfrm>
          <a:ln w="9525">
            <a:noFill/>
          </a:ln>
        </p:spPr>
        <p:txBody>
          <a:bodyPr/>
          <a:lstStyle/>
          <a:p>
            <a:pPr algn="ctr"/>
            <a:r>
              <a:rPr lang="en-IN" sz="24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EXPLORATORY DATA ANALYSIS - DISCOVERING INSIGHTS</a:t>
            </a:r>
            <a:endParaRPr lang="en-US" sz="24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450" y="762000"/>
            <a:ext cx="8134351" cy="438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359966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8D3C2-3611-EE48-8F8E-788E8A301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55"/>
            <a:ext cx="8305799" cy="741045"/>
          </a:xfrm>
          <a:ln w="9525">
            <a:noFill/>
          </a:ln>
        </p:spPr>
        <p:txBody>
          <a:bodyPr/>
          <a:lstStyle/>
          <a:p>
            <a:pPr algn="ctr"/>
            <a:r>
              <a:rPr lang="en-IN" sz="24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EXPLORATORY DATA ANALYSIS - DISCOVERING INSIGHTS</a:t>
            </a:r>
            <a:endParaRPr lang="en-US" sz="24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933451" y="971550"/>
            <a:ext cx="5172075" cy="4076700"/>
          </a:xfrm>
        </p:spPr>
        <p:txBody>
          <a:bodyPr/>
          <a:lstStyle/>
          <a:p>
            <a:pPr>
              <a:buClrTx/>
            </a:pPr>
            <a:r>
              <a:rPr lang="en-IN" sz="1600" b="1" dirty="0"/>
              <a:t>Market Research – 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en-IN" sz="1600" dirty="0"/>
              <a:t>Conduct detailed market research in the identified regions to understand local consumer preferences, behaviours, and trends.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en-IN" sz="1600" dirty="0"/>
              <a:t>Explore competitors' strategies and performance in these regions to identify potential gaps and opportunities</a:t>
            </a:r>
          </a:p>
          <a:p>
            <a:pPr>
              <a:buClrTx/>
            </a:pPr>
            <a:r>
              <a:rPr lang="en-IN" sz="1600" b="1" dirty="0"/>
              <a:t>Promotional Campaigns – 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en-IN" sz="1600" dirty="0"/>
              <a:t>Design targeted marketing and promotional campaigns to raise awareness and drive sales in the identified regions.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en-IN" sz="1600" dirty="0"/>
              <a:t>Leverage local events, traditions, or holidays to create impactful and culturally relevant campaigns</a:t>
            </a:r>
            <a:endParaRPr lang="en-IN" sz="1600" dirty="0">
              <a:latin typeface="Calibri" pitchFamily="34" charset="0"/>
            </a:endParaRPr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5526" y="762000"/>
            <a:ext cx="2852738" cy="438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733911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8D3C2-3611-EE48-8F8E-788E8A301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55"/>
            <a:ext cx="8305799" cy="741045"/>
          </a:xfrm>
          <a:ln w="9525">
            <a:noFill/>
          </a:ln>
        </p:spPr>
        <p:txBody>
          <a:bodyPr/>
          <a:lstStyle/>
          <a:p>
            <a:pPr algn="ctr"/>
            <a:r>
              <a:rPr lang="en-IN" sz="24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EXPLORATORY DATA ANALYSIS - DISCOVERING INSIGHTS</a:t>
            </a:r>
            <a:endParaRPr lang="en-US" sz="24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933451" y="1238250"/>
            <a:ext cx="5172075" cy="3228975"/>
          </a:xfrm>
        </p:spPr>
        <p:txBody>
          <a:bodyPr/>
          <a:lstStyle/>
          <a:p>
            <a:pPr>
              <a:buClrTx/>
            </a:pPr>
            <a:r>
              <a:rPr lang="en-IN" sz="1600" b="1" dirty="0"/>
              <a:t>Partnerships and Collaborations – 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en-IN" sz="1600" dirty="0"/>
              <a:t>Forge partnerships with local retailers, influencers, or sports organizations to enhance brand visibility.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en-IN" sz="1600" dirty="0"/>
              <a:t>Collaborate with local businesses or influencers for joint marketing initiatives</a:t>
            </a:r>
          </a:p>
          <a:p>
            <a:pPr>
              <a:buClrTx/>
            </a:pPr>
            <a:r>
              <a:rPr lang="en-IN" sz="1600" b="1" dirty="0"/>
              <a:t>Localized Marketing – 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en-IN" sz="1600" dirty="0"/>
              <a:t>Customize marketing materials, including advertisements and social media content, to resonate with the local audience.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en-IN" sz="1600" dirty="0"/>
              <a:t>Use local languages, imagery, and cultural references to connect with consumers on a personal level.</a:t>
            </a:r>
            <a:endParaRPr lang="en-IN" sz="1600" dirty="0">
              <a:latin typeface="Calibri" pitchFamily="34" charset="0"/>
            </a:endParaRPr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5526" y="762000"/>
            <a:ext cx="2852738" cy="438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739901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8D3C2-3611-EE48-8F8E-788E8A301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55"/>
            <a:ext cx="8305799" cy="741045"/>
          </a:xfrm>
          <a:ln w="9525">
            <a:noFill/>
          </a:ln>
        </p:spPr>
        <p:txBody>
          <a:bodyPr/>
          <a:lstStyle/>
          <a:p>
            <a:pPr algn="ctr"/>
            <a:r>
              <a:rPr lang="en-IN" sz="24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EXPLORATORY DATA ANALYSIS - DISCOVERING INSIGHTS</a:t>
            </a:r>
            <a:endParaRPr lang="en-US" sz="24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6587" y="1266825"/>
            <a:ext cx="3179776" cy="3205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933452" y="762000"/>
            <a:ext cx="5048248" cy="4381500"/>
          </a:xfrm>
        </p:spPr>
        <p:txBody>
          <a:bodyPr/>
          <a:lstStyle/>
          <a:p>
            <a:r>
              <a:rPr lang="en-IN" sz="1600" b="1" dirty="0"/>
              <a:t>Amazon -</a:t>
            </a:r>
          </a:p>
          <a:p>
            <a:pPr>
              <a:buFont typeface="Wingdings" pitchFamily="2" charset="2"/>
              <a:buChar char="Ø"/>
            </a:pPr>
            <a:r>
              <a:rPr lang="en-IN" sz="1600" dirty="0"/>
              <a:t>Optimize product listings for discoverability</a:t>
            </a:r>
          </a:p>
          <a:p>
            <a:pPr>
              <a:buFont typeface="Wingdings" pitchFamily="2" charset="2"/>
              <a:buChar char="Ø"/>
            </a:pPr>
            <a:r>
              <a:rPr lang="en-IN" sz="1600" dirty="0"/>
              <a:t>Leverage Amazon advertising for visibility</a:t>
            </a:r>
          </a:p>
          <a:p>
            <a:pPr>
              <a:buFont typeface="Wingdings" pitchFamily="2" charset="2"/>
              <a:buChar char="Ø"/>
            </a:pPr>
            <a:r>
              <a:rPr lang="en-IN" sz="1600" dirty="0"/>
              <a:t>Participate in Amazon programs like Prime</a:t>
            </a:r>
          </a:p>
          <a:p>
            <a:pPr>
              <a:buFont typeface="Wingdings" pitchFamily="2" charset="2"/>
              <a:buChar char="Ø"/>
            </a:pPr>
            <a:r>
              <a:rPr lang="en-IN" sz="1600" dirty="0"/>
              <a:t>Ensure competitive pricing strategies</a:t>
            </a:r>
          </a:p>
          <a:p>
            <a:r>
              <a:rPr lang="en-IN" sz="1600" b="1" dirty="0" err="1"/>
              <a:t>Walmart</a:t>
            </a:r>
            <a:r>
              <a:rPr lang="en-IN" sz="1600" b="1" dirty="0"/>
              <a:t> -</a:t>
            </a:r>
          </a:p>
          <a:p>
            <a:pPr>
              <a:buFont typeface="Wingdings" pitchFamily="2" charset="2"/>
              <a:buChar char="Ø"/>
            </a:pPr>
            <a:r>
              <a:rPr lang="en-IN" sz="1600" dirty="0"/>
              <a:t>Enhance storefront on Walmart.com</a:t>
            </a:r>
          </a:p>
          <a:p>
            <a:pPr>
              <a:buFont typeface="Wingdings" pitchFamily="2" charset="2"/>
              <a:buChar char="Ø"/>
            </a:pPr>
            <a:r>
              <a:rPr lang="en-IN" sz="1600" dirty="0"/>
              <a:t>Invest in </a:t>
            </a:r>
            <a:r>
              <a:rPr lang="en-IN" sz="1600" dirty="0" err="1"/>
              <a:t>Walmart</a:t>
            </a:r>
            <a:r>
              <a:rPr lang="en-IN" sz="1600" dirty="0"/>
              <a:t> advertising for visibility</a:t>
            </a:r>
          </a:p>
          <a:p>
            <a:pPr>
              <a:buFont typeface="Wingdings" pitchFamily="2" charset="2"/>
              <a:buChar char="Ø"/>
            </a:pPr>
            <a:r>
              <a:rPr lang="en-IN" sz="1600" dirty="0"/>
              <a:t>Offer exclusive discounts and special deals</a:t>
            </a:r>
          </a:p>
          <a:p>
            <a:pPr>
              <a:buFont typeface="Wingdings" pitchFamily="2" charset="2"/>
              <a:buChar char="Ø"/>
            </a:pPr>
            <a:r>
              <a:rPr lang="en-IN" sz="1600" dirty="0"/>
              <a:t>Collaborate with </a:t>
            </a:r>
            <a:r>
              <a:rPr lang="en-IN" sz="1600" dirty="0" err="1"/>
              <a:t>Walmart's</a:t>
            </a:r>
            <a:r>
              <a:rPr lang="en-IN" sz="1600" dirty="0"/>
              <a:t> merchandising teams</a:t>
            </a:r>
          </a:p>
          <a:p>
            <a:pPr>
              <a:buFont typeface="Wingdings" pitchFamily="2" charset="2"/>
              <a:buChar char="Ø"/>
            </a:pPr>
            <a:r>
              <a:rPr lang="en-IN" sz="1600" dirty="0"/>
              <a:t>Align strategies with </a:t>
            </a:r>
            <a:r>
              <a:rPr lang="en-IN" sz="1600" dirty="0" err="1"/>
              <a:t>Walmart's</a:t>
            </a:r>
            <a:r>
              <a:rPr lang="en-IN" sz="1600" dirty="0"/>
              <a:t> promotional calendar.</a:t>
            </a:r>
          </a:p>
          <a:p>
            <a:r>
              <a:rPr lang="en-IN" sz="1600" b="1" dirty="0"/>
              <a:t>Kohl’s -</a:t>
            </a:r>
          </a:p>
          <a:p>
            <a:pPr>
              <a:buFont typeface="Wingdings" pitchFamily="2" charset="2"/>
              <a:buChar char="Ø"/>
            </a:pPr>
            <a:r>
              <a:rPr lang="en-IN" sz="1600" dirty="0"/>
              <a:t>Optimize in-store product placement and displays</a:t>
            </a:r>
          </a:p>
          <a:p>
            <a:pPr>
              <a:buFont typeface="Wingdings" pitchFamily="2" charset="2"/>
              <a:buChar char="Ø"/>
            </a:pPr>
            <a:r>
              <a:rPr lang="en-IN" sz="1600" dirty="0"/>
              <a:t>Participate in Kohl's promotional events</a:t>
            </a:r>
            <a:endParaRPr lang="en-IN" sz="16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79039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8D3C2-3611-EE48-8F8E-788E8A301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55"/>
            <a:ext cx="8305799" cy="741045"/>
          </a:xfrm>
          <a:ln w="9525">
            <a:noFill/>
          </a:ln>
        </p:spPr>
        <p:txBody>
          <a:bodyPr/>
          <a:lstStyle/>
          <a:p>
            <a:pPr algn="ctr"/>
            <a:r>
              <a:rPr lang="en-IN" sz="24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EXPLORATORY DATA ANALYSIS - DISCOVERING INSIGHTS</a:t>
            </a:r>
            <a:endParaRPr lang="en-US" sz="24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799" y="874926"/>
            <a:ext cx="3419475" cy="4135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933452" y="762000"/>
            <a:ext cx="5019673" cy="4381500"/>
          </a:xfrm>
        </p:spPr>
        <p:txBody>
          <a:bodyPr/>
          <a:lstStyle/>
          <a:p>
            <a:r>
              <a:rPr lang="en-IN" sz="1600" b="1" dirty="0"/>
              <a:t>Product Innovation -</a:t>
            </a:r>
            <a:endParaRPr lang="en-IN" sz="1600" dirty="0"/>
          </a:p>
          <a:p>
            <a:pPr>
              <a:buFont typeface="Wingdings" pitchFamily="2" charset="2"/>
              <a:buChar char="Ø"/>
            </a:pPr>
            <a:r>
              <a:rPr lang="en-IN" sz="1600" dirty="0"/>
              <a:t>Introduce trendsetting designs and features.</a:t>
            </a:r>
          </a:p>
          <a:p>
            <a:r>
              <a:rPr lang="en-IN" sz="1600" b="1" dirty="0"/>
              <a:t>Targeted Marketing -</a:t>
            </a:r>
            <a:endParaRPr lang="en-IN" sz="1600" dirty="0"/>
          </a:p>
          <a:p>
            <a:pPr>
              <a:buFont typeface="Wingdings" pitchFamily="2" charset="2"/>
              <a:buChar char="Ø"/>
            </a:pPr>
            <a:r>
              <a:rPr lang="en-IN" sz="1600" dirty="0"/>
              <a:t>Develop campaigns highlighting unique product attributes.</a:t>
            </a:r>
          </a:p>
          <a:p>
            <a:r>
              <a:rPr lang="en-IN" sz="1600" b="1" dirty="0"/>
              <a:t>Pricing Strategies - </a:t>
            </a:r>
            <a:endParaRPr lang="en-IN" sz="1600" dirty="0"/>
          </a:p>
          <a:p>
            <a:pPr>
              <a:buFont typeface="Wingdings" pitchFamily="2" charset="2"/>
              <a:buChar char="Ø"/>
            </a:pPr>
            <a:r>
              <a:rPr lang="en-IN" sz="1600" dirty="0"/>
              <a:t>Evaluate and adjust pricing for competitiveness.</a:t>
            </a:r>
          </a:p>
          <a:p>
            <a:pPr>
              <a:buFont typeface="Wingdings" pitchFamily="2" charset="2"/>
              <a:buChar char="Ø"/>
            </a:pPr>
            <a:r>
              <a:rPr lang="en-IN" sz="1600" dirty="0"/>
              <a:t>Implement limited-time discounts.</a:t>
            </a:r>
          </a:p>
          <a:p>
            <a:r>
              <a:rPr lang="en-IN" sz="1600" b="1" dirty="0"/>
              <a:t>In-Store Optimization -</a:t>
            </a:r>
            <a:endParaRPr lang="en-IN" sz="1600" dirty="0"/>
          </a:p>
          <a:p>
            <a:pPr>
              <a:buFont typeface="Wingdings" pitchFamily="2" charset="2"/>
              <a:buChar char="Ø"/>
            </a:pPr>
            <a:r>
              <a:rPr lang="en-IN" sz="1600" dirty="0"/>
              <a:t>Optimize product placement for visibility.</a:t>
            </a:r>
          </a:p>
          <a:p>
            <a:r>
              <a:rPr lang="en-IN" sz="1600" b="1" dirty="0"/>
              <a:t>Customer Engagement -</a:t>
            </a:r>
            <a:endParaRPr lang="en-IN" sz="1600" dirty="0"/>
          </a:p>
          <a:p>
            <a:pPr>
              <a:buFont typeface="Wingdings" pitchFamily="2" charset="2"/>
              <a:buChar char="Ø"/>
            </a:pPr>
            <a:r>
              <a:rPr lang="en-IN" sz="1600" dirty="0"/>
              <a:t>Gather feedback for continuous product improvement.</a:t>
            </a:r>
          </a:p>
          <a:p>
            <a:r>
              <a:rPr lang="en-IN" sz="1600" b="1" dirty="0"/>
              <a:t>Strategic Collaborations -</a:t>
            </a:r>
            <a:endParaRPr lang="en-IN" sz="1600" dirty="0"/>
          </a:p>
          <a:p>
            <a:pPr>
              <a:buFont typeface="Wingdings" pitchFamily="2" charset="2"/>
              <a:buChar char="Ø"/>
            </a:pPr>
            <a:r>
              <a:rPr lang="en-IN" sz="1600" dirty="0"/>
              <a:t>Partner with influencers or athletes for endorsements.</a:t>
            </a:r>
          </a:p>
          <a:p>
            <a:endParaRPr lang="en-IN" sz="16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85591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8D3C2-3611-EE48-8F8E-788E8A301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0615" y="182880"/>
            <a:ext cx="7919085" cy="741045"/>
          </a:xfrm>
          <a:ln w="9525">
            <a:noFill/>
          </a:ln>
        </p:spPr>
        <p:txBody>
          <a:bodyPr/>
          <a:lstStyle/>
          <a:p>
            <a:pPr algn="ctr"/>
            <a:r>
              <a:rPr lang="en-IN" sz="3200" b="1" dirty="0">
                <a:solidFill>
                  <a:srgbClr val="7030A0"/>
                </a:solidFill>
                <a:latin typeface="Calibri" pitchFamily="34" charset="0"/>
              </a:rPr>
              <a:t>MODEL BUILDING</a:t>
            </a:r>
            <a:endParaRPr lang="en-US" sz="3200" dirty="0">
              <a:solidFill>
                <a:srgbClr val="7030A0"/>
              </a:solidFill>
            </a:endParaRPr>
          </a:p>
        </p:txBody>
      </p:sp>
      <p:sp>
        <p:nvSpPr>
          <p:cNvPr id="7" name="Content Placeholder 1"/>
          <p:cNvSpPr>
            <a:spLocks noGrp="1"/>
          </p:cNvSpPr>
          <p:nvPr>
            <p:ph idx="1"/>
          </p:nvPr>
        </p:nvSpPr>
        <p:spPr>
          <a:xfrm>
            <a:off x="1005840" y="1071176"/>
            <a:ext cx="7680959" cy="3785800"/>
          </a:xfrm>
        </p:spPr>
        <p:txBody>
          <a:bodyPr/>
          <a:lstStyle/>
          <a:p>
            <a:r>
              <a:rPr lang="en-IN" sz="2400" b="1" dirty="0">
                <a:latin typeface="+mn-lt"/>
              </a:rPr>
              <a:t>Optimizing operational efficiency</a:t>
            </a:r>
          </a:p>
          <a:p>
            <a:r>
              <a:rPr lang="en-IN" sz="2400" b="1" dirty="0">
                <a:latin typeface="+mn-lt"/>
              </a:rPr>
              <a:t>Supply chain management</a:t>
            </a:r>
          </a:p>
          <a:p>
            <a:r>
              <a:rPr lang="en-IN" sz="2400" b="1" dirty="0">
                <a:latin typeface="+mn-lt"/>
              </a:rPr>
              <a:t>Streamlining internal processes</a:t>
            </a:r>
          </a:p>
          <a:p>
            <a:r>
              <a:rPr lang="en-IN" sz="2400" b="1" dirty="0">
                <a:latin typeface="+mn-lt"/>
              </a:rPr>
              <a:t>Negotiating better deals with suppliers</a:t>
            </a:r>
          </a:p>
          <a:p>
            <a:r>
              <a:rPr lang="en-IN" sz="2400" b="1" dirty="0">
                <a:latin typeface="+mn-lt"/>
              </a:rPr>
              <a:t>Adopting cost-effective production methods</a:t>
            </a:r>
          </a:p>
          <a:p>
            <a:r>
              <a:rPr lang="en-IN" sz="2400" b="1" dirty="0">
                <a:latin typeface="+mn-lt"/>
              </a:rPr>
              <a:t>Market trends analysis</a:t>
            </a:r>
          </a:p>
          <a:p>
            <a:r>
              <a:rPr lang="en-IN" sz="2400" b="1" dirty="0">
                <a:latin typeface="+mn-lt"/>
              </a:rPr>
              <a:t>Industry advancements knowledge</a:t>
            </a:r>
          </a:p>
          <a:p>
            <a:r>
              <a:rPr lang="en-IN" sz="2400" b="1" dirty="0">
                <a:latin typeface="+mn-lt"/>
              </a:rPr>
              <a:t>Social media use for marketing</a:t>
            </a:r>
          </a:p>
        </p:txBody>
      </p:sp>
    </p:spTree>
    <p:extLst>
      <p:ext uri="{BB962C8B-B14F-4D97-AF65-F5344CB8AC3E}">
        <p14:creationId xmlns:p14="http://schemas.microsoft.com/office/powerpoint/2010/main" val="8205614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826" y="0"/>
            <a:ext cx="8258174" cy="5143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552138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801100" y="4856976"/>
            <a:ext cx="457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20</a:t>
            </a: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0" y="0"/>
            <a:ext cx="8286750" cy="5133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172620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751E8-83E9-D046-A2AC-1A2F176F69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38375" y="1876425"/>
            <a:ext cx="4429125" cy="1143000"/>
          </a:xfrm>
        </p:spPr>
        <p:txBody>
          <a:bodyPr/>
          <a:lstStyle/>
          <a:p>
            <a:r>
              <a:rPr lang="en-IN" sz="6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THANK YOU!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3851029905"/>
      </p:ext>
    </p:extLst>
  </p:cSld>
  <p:clrMapOvr>
    <a:masterClrMapping/>
  </p:clrMapOvr>
</p:sld>
</file>

<file path=ppt/theme/theme1.xml><?xml version="1.0" encoding="utf-8"?>
<a:theme xmlns:a="http://schemas.openxmlformats.org/drawingml/2006/main" name="Vertical-PPT-Template (1)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University-Vertical-Branding-Widescreen-July2020.potx" id="{6E30CCC1-CD18-E246-921F-40464F11EDB9}" vid="{B0978761-DC1E-D446-BB31-46A0316FB1EB}"/>
    </a:ext>
  </a:extLst>
</a:theme>
</file>

<file path=ppt/theme/theme2.xml><?xml version="1.0" encoding="utf-8"?>
<a:theme xmlns:a="http://schemas.openxmlformats.org/drawingml/2006/main" name="Horizontal-PPT-Template (2)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University_Widescreen_Template_Horiz_July2020.potx" id="{3459171C-7422-D447-8EC6-0D4BD2EA01CB}" vid="{0E0B95AE-4A22-BB4E-AFBE-94B43768EE56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E64AEEDD9B7A4D93545ACBE97D4615" ma:contentTypeVersion="2" ma:contentTypeDescription="Create a new document." ma:contentTypeScope="" ma:versionID="f49002b78e3a4a71b814eef46a983816">
  <xsd:schema xmlns:xsd="http://www.w3.org/2001/XMLSchema" xmlns:xs="http://www.w3.org/2001/XMLSchema" xmlns:p="http://schemas.microsoft.com/office/2006/metadata/properties" xmlns:ns2="http://schemas.microsoft.com/sharepoint/v3/fields" targetNamespace="http://schemas.microsoft.com/office/2006/metadata/properties" ma:root="true" ma:fieldsID="38f6db2dd0d9a0cf6a8dc37be32b365b" ns2:_=""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_Status" minOccurs="0"/>
                <xsd:element ref="ns2:_Vers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Status" ma:index="8" nillable="true" ma:displayName="Status" ma:default="Not Started" ma:internalName="_Status">
      <xsd:simpleType>
        <xsd:union memberTypes="dms:Text">
          <xsd:simpleType>
            <xsd:restriction base="dms:Choice">
              <xsd:enumeration value="Not Started"/>
              <xsd:enumeration value="Draft"/>
              <xsd:enumeration value="Reviewed"/>
              <xsd:enumeration value="Scheduled"/>
              <xsd:enumeration value="Published"/>
              <xsd:enumeration value="Final"/>
              <xsd:enumeration value="Expired"/>
            </xsd:restriction>
          </xsd:simpleType>
        </xsd:union>
      </xsd:simpleType>
    </xsd:element>
    <xsd:element name="_Version" ma:index="9" nillable="true" ma:displayName="Version" ma:internalName="_Vers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 ma:displayName="Status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Version xmlns="http://schemas.microsoft.com/sharepoint/v3/fields" xsi:nil="true"/>
    <_Status xmlns="http://schemas.microsoft.com/sharepoint/v3/fields">Not Started</_Statu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4214858-785C-42F7-BE66-6D0E79395F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/field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B6F2769-7194-4217-93D3-3AF3A4742282}">
  <ds:schemaRefs>
    <ds:schemaRef ds:uri="http://purl.org/dc/dcmitype/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schemas.microsoft.com/sharepoint/v3/field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87D2A1B0-FF3E-4009-940D-AED0EB70AA2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Vertical-PPT-Template (1)</Template>
  <TotalTime>3870</TotalTime>
  <Words>399</Words>
  <Application>Microsoft Office PowerPoint</Application>
  <PresentationFormat>On-screen Show (16:9)</PresentationFormat>
  <Paragraphs>68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Cambria</vt:lpstr>
      <vt:lpstr>Lucida Sans</vt:lpstr>
      <vt:lpstr>Wingdings</vt:lpstr>
      <vt:lpstr>Vertical-PPT-Template (1)</vt:lpstr>
      <vt:lpstr>Horizontal-PPT-Template (2)</vt:lpstr>
      <vt:lpstr>PROFITABILITY ANALYSIS OF ADIDAS IN THE US MARKET</vt:lpstr>
      <vt:lpstr>PowerPoint Presentation</vt:lpstr>
      <vt:lpstr>PowerPoint Presentation</vt:lpstr>
      <vt:lpstr>PowerPoint Presentation</vt:lpstr>
      <vt:lpstr>PowerPoint Presentation</vt:lpstr>
      <vt:lpstr>EXPLORATORY DATA ANALYSIS - DISCOVERING INSIGHTS</vt:lpstr>
      <vt:lpstr>EXPLORATORY DATA ANALYSIS - DISCOVERING INSIGHTS</vt:lpstr>
      <vt:lpstr>EXPLORATORY DATA ANALYSIS - DISCOVERING INSIGHTS</vt:lpstr>
      <vt:lpstr>EXPLORATORY DATA ANALYSIS - DISCOVERING INSIGHTS</vt:lpstr>
      <vt:lpstr>EXPLORATORY DATA ANALYSIS - DISCOVERING INSIGHTS</vt:lpstr>
      <vt:lpstr>EXPLORATORY DATA ANALYSIS - DISCOVERING INSIGHTS</vt:lpstr>
      <vt:lpstr>EXPLORATORY DATA ANALYSIS - DISCOVERING INSIGHTS</vt:lpstr>
      <vt:lpstr>EXPLORATORY DATA ANALYSIS - DISCOVERING INSIGHTS</vt:lpstr>
      <vt:lpstr>EXPLORATORY DATA ANALYSIS - DISCOVERING INSIGHTS</vt:lpstr>
      <vt:lpstr>EXPLORATORY DATA ANALYSIS - DISCOVERING INSIGHTS</vt:lpstr>
      <vt:lpstr>EXPLORATORY DATA ANALYSIS - DISCOVERING INSIGHTS</vt:lpstr>
      <vt:lpstr>EXPLORATORY DATA ANALYSIS - DISCOVERING INSIGHTS</vt:lpstr>
      <vt:lpstr>EXPLORATORY DATA ANALYSIS - DISCOVERING INSIGHTS</vt:lpstr>
      <vt:lpstr>MODEL BUILDING</vt:lpstr>
      <vt:lpstr>PowerPoint Presentation</vt:lpstr>
      <vt:lpstr>PowerPoint Presentation</vt:lpstr>
      <vt:lpstr>THANK YOU!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CIS731 Project   ESTIMATING LITHIUM-ION BATTERY HEALTH</dc:title>
  <dc:creator>ismail - [2010]</dc:creator>
  <cp:lastModifiedBy>Balaji Janardhan</cp:lastModifiedBy>
  <cp:revision>137</cp:revision>
  <dcterms:created xsi:type="dcterms:W3CDTF">2023-11-30T05:23:05Z</dcterms:created>
  <dcterms:modified xsi:type="dcterms:W3CDTF">2025-01-02T01:18:21Z</dcterms:modified>
  <cp:contentStatus>Draft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0x0101000DE64AEEDD9B7A4D93545ACBE97D4615</vt:lpwstr>
  </property>
</Properties>
</file>